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54864" cy="54864"/>
          </a:xfrm>
          <a:prstGeom prst="ellipse">
            <a:avLst/>
          </a:prstGeom>
          <a:solidFill>
            <a:srgbClr val="F5C842">
              <a:alpha val="40000"/>
            </a:srgbClr>
          </a:solidFill>
          <a:ln w="12700">
            <a:solidFill>
              <a:srgbClr val="F5C84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05840"/>
            <a:ext cx="54864" cy="54864"/>
          </a:xfrm>
          <a:prstGeom prst="ellipse">
            <a:avLst/>
          </a:prstGeom>
          <a:solidFill>
            <a:srgbClr val="F5C842">
              <a:alpha val="40000"/>
            </a:srgbClr>
          </a:solidFill>
          <a:ln w="12700">
            <a:solidFill>
              <a:srgbClr val="F5C84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274320"/>
            <a:ext cx="54864" cy="54864"/>
          </a:xfrm>
          <a:prstGeom prst="ellipse">
            <a:avLst/>
          </a:prstGeom>
          <a:solidFill>
            <a:srgbClr val="F5C842">
              <a:alpha val="40000"/>
            </a:srgbClr>
          </a:solidFill>
          <a:ln w="12700">
            <a:solidFill>
              <a:srgbClr val="F5C842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731520"/>
            <a:ext cx="54864" cy="54864"/>
          </a:xfrm>
          <a:prstGeom prst="ellipse">
            <a:avLst/>
          </a:prstGeom>
          <a:solidFill>
            <a:srgbClr val="F5C842">
              <a:alpha val="40000"/>
            </a:srgbClr>
          </a:solidFill>
          <a:ln w="12700">
            <a:solidFill>
              <a:srgbClr val="F5C84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457200"/>
            <a:ext cx="54864" cy="54864"/>
          </a:xfrm>
          <a:prstGeom prst="ellipse">
            <a:avLst/>
          </a:prstGeom>
          <a:solidFill>
            <a:srgbClr val="F5C842">
              <a:alpha val="40000"/>
            </a:srgbClr>
          </a:solidFill>
          <a:ln w="12700">
            <a:solidFill>
              <a:srgbClr val="F5C842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914400"/>
            <a:ext cx="54864" cy="54864"/>
          </a:xfrm>
          <a:prstGeom prst="ellipse">
            <a:avLst/>
          </a:prstGeom>
          <a:solidFill>
            <a:srgbClr val="F5C842">
              <a:alpha val="40000"/>
            </a:srgbClr>
          </a:solidFill>
          <a:ln w="12700">
            <a:solidFill>
              <a:srgbClr val="F5C842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926080"/>
            <a:ext cx="54864" cy="54864"/>
          </a:xfrm>
          <a:prstGeom prst="ellipse">
            <a:avLst/>
          </a:prstGeom>
          <a:solidFill>
            <a:srgbClr val="F5C842">
              <a:alpha val="40000"/>
            </a:srgbClr>
          </a:solidFill>
          <a:ln w="12700">
            <a:solidFill>
              <a:srgbClr val="F5C842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4389120"/>
            <a:ext cx="54864" cy="54864"/>
          </a:xfrm>
          <a:prstGeom prst="ellipse">
            <a:avLst/>
          </a:prstGeom>
          <a:solidFill>
            <a:srgbClr val="F5C842">
              <a:alpha val="40000"/>
            </a:srgbClr>
          </a:solidFill>
          <a:ln w="12700">
            <a:solidFill>
              <a:srgbClr val="F5C842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1920240"/>
            <a:ext cx="54864" cy="54864"/>
          </a:xfrm>
          <a:prstGeom prst="ellipse">
            <a:avLst/>
          </a:prstGeom>
          <a:solidFill>
            <a:srgbClr val="F5C842">
              <a:alpha val="40000"/>
            </a:srgbClr>
          </a:solidFill>
          <a:ln w="12700">
            <a:solidFill>
              <a:srgbClr val="F5C842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3566160"/>
            <a:ext cx="54864" cy="54864"/>
          </a:xfrm>
          <a:prstGeom prst="ellipse">
            <a:avLst/>
          </a:prstGeom>
          <a:solidFill>
            <a:srgbClr val="F5C842">
              <a:alpha val="40000"/>
            </a:srgbClr>
          </a:solidFill>
          <a:ln w="12700">
            <a:solidFill>
              <a:srgbClr val="F5C842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2560320"/>
            <a:ext cx="54864" cy="54864"/>
          </a:xfrm>
          <a:prstGeom prst="ellipse">
            <a:avLst/>
          </a:prstGeom>
          <a:solidFill>
            <a:srgbClr val="F5C842">
              <a:alpha val="40000"/>
            </a:srgbClr>
          </a:solidFill>
          <a:ln w="12700">
            <a:solidFill>
              <a:srgbClr val="F5C842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3840480"/>
            <a:ext cx="54864" cy="54864"/>
          </a:xfrm>
          <a:prstGeom prst="ellipse">
            <a:avLst/>
          </a:prstGeom>
          <a:solidFill>
            <a:srgbClr val="F5C842">
              <a:alpha val="40000"/>
            </a:srgbClr>
          </a:solidFill>
          <a:ln w="12700">
            <a:solidFill>
              <a:srgbClr val="F5C842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5486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🌍🐉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2286000" y="5029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Mondo degli Allevatori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2286000" y="1417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Avatar + Educazione Culturale + Saggezza AI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1965960"/>
            <a:ext cx="8229600" cy="22860"/>
          </a:xfrm>
          <a:prstGeom prst="rect">
            <a:avLst/>
          </a:prstGeom>
          <a:solidFill>
            <a:srgbClr val="4A2FA0"/>
          </a:solidFill>
          <a:ln w="12700">
            <a:solidFill>
              <a:srgbClr val="4A2F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14884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2D1B69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212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Avatar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 + 8F · 8 paesi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214884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2D1B69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212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Fasi Drago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47472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Cucciolo → Mitico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214884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2D1B69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212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Livelli infiniti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9224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1 → ∞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1A1040"/>
          </a:solidFill>
          <a:ln w="12700">
            <a:solidFill>
              <a:srgbClr val="4A2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4015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57200" y="39136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48840" y="333756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1A1040"/>
          </a:solidFill>
          <a:ln w="12700">
            <a:solidFill>
              <a:srgbClr val="4A2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148840" y="34015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148840" y="39136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40480" y="333756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1A1040"/>
          </a:solidFill>
          <a:ln w="12700">
            <a:solidFill>
              <a:srgbClr val="4A2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840480" y="34015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3840480" y="39136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32120" y="333756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1A1040"/>
          </a:solidFill>
          <a:ln w="12700">
            <a:solidFill>
              <a:srgbClr val="4A2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532120" y="34015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5532120" y="39136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23760" y="333756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1A1040"/>
          </a:solidFill>
          <a:ln w="12700">
            <a:solidFill>
              <a:srgbClr val="4A2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223760" y="34015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🌟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7223760" y="39136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Saggezza AI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60AA"/>
                </a:solidFill>
              </a:rPr>
              <a:t>FinanzaLand · Bernard Ilboudo · Riservato agli investitori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Allevatori di Draghi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maschi · 8 femmine · 8 paesi · 4 continenti — sbloccabili progressivamente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196596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34440"/>
            <a:ext cx="196596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307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🇧🇫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2710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ADE2"/>
                </a:solidFill>
              </a:rPr>
              <a:t>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472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Seydou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7099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65960" y="1325880"/>
            <a:ext cx="146304" cy="146304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234440"/>
            <a:ext cx="196596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23160" y="1307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🇧🇫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80360" y="12710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9B4"/>
                </a:solidFill>
              </a:rPr>
              <a:t>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80360" y="1472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Aminata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80360" y="17099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60520" y="1325880"/>
            <a:ext cx="146304" cy="146304"/>
          </a:xfrm>
          <a:prstGeom prst="ellipse">
            <a:avLst/>
          </a:prstGeom>
          <a:solidFill>
            <a:srgbClr val="FFF176"/>
          </a:solidFill>
          <a:ln w="12700">
            <a:solidFill>
              <a:srgbClr val="FFF17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234440"/>
            <a:ext cx="196596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17720" y="1307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🇸🇳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74920" y="12710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9B4"/>
                </a:solidFill>
              </a:rPr>
              <a:t>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1472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Fatou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17099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55080" y="1325880"/>
            <a:ext cx="146304" cy="146304"/>
          </a:xfrm>
          <a:prstGeom prst="ellipse">
            <a:avLst/>
          </a:prstGeom>
          <a:solidFill>
            <a:srgbClr val="228B22"/>
          </a:solidFill>
          <a:ln w="12700">
            <a:solidFill>
              <a:srgbClr val="228B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234440"/>
            <a:ext cx="196596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12280" y="1307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🇧🇫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69480" y="12710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ADE2"/>
                </a:solidFill>
              </a:rPr>
              <a:t>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69480" y="1472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Issouf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9480" y="17099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49640" y="1325880"/>
            <a:ext cx="146304" cy="14630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2148840"/>
            <a:ext cx="196596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28600" y="22219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🇮🇹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5800" y="21854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9B4"/>
                </a:solidFill>
              </a:rPr>
              <a:t>♀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" y="2386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Giulia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" y="2624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965960" y="2240280"/>
            <a:ext cx="146304" cy="146304"/>
          </a:xfrm>
          <a:prstGeom prst="ellips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3160" y="2148840"/>
            <a:ext cx="196596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423160" y="22219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🇮🇹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2880360" y="21854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ADE2"/>
                </a:solidFill>
              </a:rPr>
              <a:t>♂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880360" y="2386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880360" y="2624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6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60520" y="2240280"/>
            <a:ext cx="146304" cy="14630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17720" y="2148840"/>
            <a:ext cx="196596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17720" y="22219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🇧🇷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074920" y="21854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ADE2"/>
                </a:solidFill>
              </a:rPr>
              <a:t>♂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74920" y="2386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Mateus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74920" y="2624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7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55080" y="2240280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12280" y="2148840"/>
            <a:ext cx="196596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812280" y="22219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🇮🇳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269480" y="21854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9B4"/>
                </a:solidFill>
              </a:rPr>
              <a:t>♀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269480" y="2386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Priya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269480" y="2624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8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549640" y="2240280"/>
            <a:ext cx="146304" cy="146304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8600" y="3063240"/>
            <a:ext cx="196596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228600" y="31363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🇯🇵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685800" y="30998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9B4"/>
                </a:solidFill>
              </a:rPr>
              <a:t>♀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5800" y="3300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Mei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85800" y="3538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9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965960" y="3154680"/>
            <a:ext cx="146304" cy="146304"/>
          </a:xfrm>
          <a:prstGeom prst="ellipse">
            <a:avLst/>
          </a:prstGeom>
          <a:solidFill>
            <a:srgbClr val="FF69B4"/>
          </a:solidFill>
          <a:ln w="12700">
            <a:solidFill>
              <a:srgbClr val="FF69B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423160" y="3063240"/>
            <a:ext cx="196596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2423160" y="31363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🇬🇭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2880360" y="30998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ADE2"/>
                </a:solidFill>
              </a:rPr>
              <a:t>♂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880360" y="3300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Kwame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2880360" y="3538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10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60520" y="3154680"/>
            <a:ext cx="146304" cy="146304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617720" y="3063240"/>
            <a:ext cx="196596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617720" y="31363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🇯🇵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5074920" y="30998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ADE2"/>
                </a:solidFill>
              </a:rPr>
              <a:t>♂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074920" y="3300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Kenji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074920" y="3538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12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355080" y="3154680"/>
            <a:ext cx="146304" cy="146304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812280" y="3063240"/>
            <a:ext cx="196596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6812280" y="31363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🇲🇽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7269480" y="30998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9B4"/>
                </a:solidFill>
              </a:rPr>
              <a:t>♀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269480" y="3300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Lucía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7269480" y="3538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13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549640" y="3154680"/>
            <a:ext cx="146304" cy="14630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28600" y="3977640"/>
            <a:ext cx="196596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228600" y="40507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🇪🇹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685800" y="40142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ADE2"/>
                </a:solidFill>
              </a:rPr>
              <a:t>♂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85800" y="4215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Yohannes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685800" y="4453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14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1965960" y="4069080"/>
            <a:ext cx="146304" cy="146304"/>
          </a:xfrm>
          <a:prstGeom prst="ellipse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423160" y="3977640"/>
            <a:ext cx="196596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2423160" y="40507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🇧🇷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2880360" y="40142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9B4"/>
                </a:solidFill>
              </a:rPr>
              <a:t>♀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2880360" y="4215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Sofia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2880360" y="4453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15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60520" y="4069080"/>
            <a:ext cx="146304" cy="146304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617720" y="3977640"/>
            <a:ext cx="196596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4617720" y="40507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🇲🇦</a:t>
            </a:r>
            <a:endParaRPr lang="en-US" sz="1800" dirty="0"/>
          </a:p>
        </p:txBody>
      </p:sp>
      <p:sp>
        <p:nvSpPr>
          <p:cNvPr id="92" name="Text 90"/>
          <p:cNvSpPr/>
          <p:nvPr/>
        </p:nvSpPr>
        <p:spPr>
          <a:xfrm>
            <a:off x="5074920" y="40142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9B4"/>
                </a:solidFill>
              </a:rPr>
              <a:t>♀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5074920" y="4215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Aisha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5074920" y="4453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17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55080" y="4069080"/>
            <a:ext cx="146304" cy="14630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812280" y="3977640"/>
            <a:ext cx="196596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6812280" y="40507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🇦🇷</a:t>
            </a:r>
            <a:endParaRPr lang="en-US" sz="1800" dirty="0"/>
          </a:p>
        </p:txBody>
      </p:sp>
      <p:sp>
        <p:nvSpPr>
          <p:cNvPr id="98" name="Text 96"/>
          <p:cNvSpPr/>
          <p:nvPr/>
        </p:nvSpPr>
        <p:spPr>
          <a:xfrm>
            <a:off x="7269480" y="40142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ADE2"/>
                </a:solidFill>
              </a:rPr>
              <a:t>♂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7269480" y="4215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Diego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7269480" y="4453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19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8549640" y="4069080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60AA"/>
                </a:solidFill>
              </a:rPr>
              <a:t>🟡 = Drago starter  ·  🔵 = Drago maschile  ·  🩷 = Drago femminile  ·  Punto colorato = colore drago unico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Evoluzione del Drago — Sistema Infinito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drago cresce visivamente con il bambino — nessun limite di livello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64008" cy="777240"/>
          </a:xfrm>
          <a:prstGeom prst="rect">
            <a:avLst/>
          </a:prstGeom>
          <a:solidFill>
            <a:srgbClr val="F5CBA7"/>
          </a:solidFill>
          <a:ln w="12700">
            <a:solidFill>
              <a:srgbClr val="F5CB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🥚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Drago Cucciolo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6184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1 – 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13441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drago è appena nato. Il bambino impara le basi della finanza e delle culture.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1892808"/>
            <a:ext cx="2286000" cy="7315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1892808"/>
            <a:ext cx="571500" cy="73152"/>
          </a:xfrm>
          <a:prstGeom prst="rect">
            <a:avLst/>
          </a:prstGeom>
          <a:solidFill>
            <a:srgbClr val="F5CBA7"/>
          </a:solidFill>
          <a:ln w="12700">
            <a:solidFill>
              <a:srgbClr val="F5CB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48840"/>
            <a:ext cx="859536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48840"/>
            <a:ext cx="64008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402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🐉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097280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Drago Giovane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532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26 – 60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2585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drago cresce. Si sbloccano avatar avanzati e saggezze più profonde.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2807208"/>
            <a:ext cx="2286000" cy="7315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2807208"/>
            <a:ext cx="12573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063240"/>
            <a:ext cx="859536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63240"/>
            <a:ext cx="64008" cy="77724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1546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09728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Drago Leggendario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34472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61 – 100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31729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drago ottiene corona e poteri. I bambini diventano "maestri" culturali.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97280" y="3721608"/>
            <a:ext cx="2286000" cy="7315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7280" y="3721608"/>
            <a:ext cx="1828800" cy="731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977640"/>
            <a:ext cx="859536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977640"/>
            <a:ext cx="64008" cy="777240"/>
          </a:xfrm>
          <a:prstGeom prst="rect">
            <a:avLst/>
          </a:prstGeom>
          <a:solidFill>
            <a:srgbClr val="FF69B4"/>
          </a:solidFill>
          <a:ln w="12700">
            <a:solidFill>
              <a:srgbClr val="FF69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0690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🌟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1097280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Drago Mitico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97280" y="4361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101 – ∞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66160" y="40873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drago raggiunge lo stato mitico con alone luminoso. Infinite possibilità.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7280" y="4636008"/>
            <a:ext cx="2286000" cy="7315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7280" y="4636008"/>
            <a:ext cx="2286000" cy="73152"/>
          </a:xfrm>
          <a:prstGeom prst="rect">
            <a:avLst/>
          </a:prstGeom>
          <a:solidFill>
            <a:srgbClr val="FF69B4"/>
          </a:solidFill>
          <a:ln w="12700">
            <a:solidFill>
              <a:srgbClr val="FF69B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60AA"/>
                </a:solidFill>
              </a:rPr>
              <a:t>Il drago cresce visivamente in dimensione e dettaglio ad ogni fase — retention garantita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Educativo: 5 Dimensioni per Avatar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avatar sblocca un curriculum completo — cultura, lingua, quiz, missioni, filosofia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1572768" cy="338328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34440"/>
            <a:ext cx="1572768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353312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🌍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28600" y="19202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286000"/>
            <a:ext cx="1207008" cy="22860"/>
          </a:xfrm>
          <a:prstGeom prst="rect">
            <a:avLst/>
          </a:prstGeom>
          <a:solidFill>
            <a:srgbClr val="4A2FA0"/>
          </a:solidFill>
          <a:ln w="12700">
            <a:solidFill>
              <a:srgbClr val="4A2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359152"/>
            <a:ext cx="1572768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Storia · Tradizioni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Religione · Geografia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224528"/>
            <a:ext cx="1389888" cy="329184"/>
          </a:xfrm>
          <a:prstGeom prst="roundRect">
            <a:avLst>
              <a:gd name="adj" fmla="val 22222"/>
            </a:avLst>
          </a:prstGeom>
          <a:solidFill>
            <a:srgbClr val="4A2FA0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22452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Conoscenza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84248" y="1234440"/>
            <a:ext cx="1572768" cy="338328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84248" y="1234440"/>
            <a:ext cx="1572768" cy="54864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84248" y="1353312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984248" y="19202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Lingua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67128" y="2286000"/>
            <a:ext cx="1207008" cy="22860"/>
          </a:xfrm>
          <a:prstGeom prst="rect">
            <a:avLst/>
          </a:prstGeom>
          <a:solidFill>
            <a:srgbClr val="4A2FA0"/>
          </a:solidFill>
          <a:ln w="12700">
            <a:solidFill>
              <a:srgbClr val="4A2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84248" y="2359152"/>
            <a:ext cx="1572768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frasi native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Fonetica + Audio 🔊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75688" y="4224528"/>
            <a:ext cx="1389888" cy="329184"/>
          </a:xfrm>
          <a:prstGeom prst="roundRect">
            <a:avLst>
              <a:gd name="adj" fmla="val 22222"/>
            </a:avLst>
          </a:prstGeom>
          <a:solidFill>
            <a:srgbClr val="4A2FA0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75688" y="422452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39896" y="1234440"/>
            <a:ext cx="1572768" cy="338328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39896" y="1234440"/>
            <a:ext cx="1572768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9896" y="1353312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739896" y="19202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922776" y="2286000"/>
            <a:ext cx="1207008" cy="22860"/>
          </a:xfrm>
          <a:prstGeom prst="rect">
            <a:avLst/>
          </a:prstGeom>
          <a:solidFill>
            <a:srgbClr val="4A2FA0"/>
          </a:solidFill>
          <a:ln w="12700">
            <a:solidFill>
              <a:srgbClr val="4A2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9896" y="2359152"/>
            <a:ext cx="1572768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domande progressive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Ricompensa Semi 🌱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31336" y="4224528"/>
            <a:ext cx="1389888" cy="329184"/>
          </a:xfrm>
          <a:prstGeom prst="roundRect">
            <a:avLst>
              <a:gd name="adj" fmla="val 22222"/>
            </a:avLst>
          </a:prstGeom>
          <a:solidFill>
            <a:srgbClr val="4A2FA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31336" y="422452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+Semi di Luce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95544" y="1234440"/>
            <a:ext cx="1572768" cy="338328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95544" y="1234440"/>
            <a:ext cx="1572768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95544" y="1353312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5495544" y="19202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Missioni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78424" y="2286000"/>
            <a:ext cx="1207008" cy="22860"/>
          </a:xfrm>
          <a:prstGeom prst="rect">
            <a:avLst/>
          </a:prstGeom>
          <a:solidFill>
            <a:srgbClr val="4A2FA0"/>
          </a:solidFill>
          <a:ln w="12700">
            <a:solidFill>
              <a:srgbClr val="4A2F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95544" y="2359152"/>
            <a:ext cx="1572768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missioni culturali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Collegate alla finanza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86984" y="4224528"/>
            <a:ext cx="1389888" cy="329184"/>
          </a:xfrm>
          <a:prstGeom prst="roundRect">
            <a:avLst>
              <a:gd name="adj" fmla="val 22222"/>
            </a:avLst>
          </a:prstGeom>
          <a:solidFill>
            <a:srgbClr val="4A2FA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86984" y="422452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+Semi premium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51192" y="1234440"/>
            <a:ext cx="1572768" cy="338328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51192" y="1234440"/>
            <a:ext cx="1572768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51192" y="1353312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🌟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7251192" y="19202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Saggezza AI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434072" y="2286000"/>
            <a:ext cx="1207008" cy="22860"/>
          </a:xfrm>
          <a:prstGeom prst="rect">
            <a:avLst/>
          </a:prstGeom>
          <a:solidFill>
            <a:srgbClr val="4A2FA0"/>
          </a:solidFill>
          <a:ln w="12700">
            <a:solidFill>
              <a:srgbClr val="4A2F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51192" y="2359152"/>
            <a:ext cx="1572768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Proverbio + Domanda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Civetta valuta risposta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42632" y="4224528"/>
            <a:ext cx="1389888" cy="329184"/>
          </a:xfrm>
          <a:prstGeom prst="roundRect">
            <a:avLst>
              <a:gd name="adj" fmla="val 22222"/>
            </a:avLst>
          </a:prstGeom>
          <a:solidFill>
            <a:srgbClr val="4A2FA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42632" y="422452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+Semi + AI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801368" y="2468880"/>
            <a:ext cx="182880" cy="0"/>
          </a:xfrm>
          <a:prstGeom prst="line">
            <a:avLst/>
          </a:prstGeom>
          <a:noFill/>
          <a:ln w="19050">
            <a:solidFill>
              <a:srgbClr val="4A2F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57016" y="2468880"/>
            <a:ext cx="182880" cy="0"/>
          </a:xfrm>
          <a:prstGeom prst="line">
            <a:avLst/>
          </a:prstGeom>
          <a:noFill/>
          <a:ln w="19050">
            <a:solidFill>
              <a:srgbClr val="4A2F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12664" y="2468880"/>
            <a:ext cx="182880" cy="0"/>
          </a:xfrm>
          <a:prstGeom prst="line">
            <a:avLst/>
          </a:prstGeom>
          <a:noFill/>
          <a:ln w="19050">
            <a:solidFill>
              <a:srgbClr val="4A2F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68312" y="2468880"/>
            <a:ext cx="182880" cy="0"/>
          </a:xfrm>
          <a:prstGeom prst="line">
            <a:avLst/>
          </a:prstGeom>
          <a:noFill/>
          <a:ln w="19050">
            <a:solidFill>
              <a:srgbClr val="4A2F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60AA"/>
                </a:solidFill>
              </a:rPr>
              <a:t>Ogni tab è indipendente — nessun bug di reset del quiz — architettura production-ready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Saggezza Metafisica — Powered by Civetta 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bambino risponde a domande filosofiche — Civetta AI valuta e personalizza la risposta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651760" cy="2377440"/>
          </a:xfrm>
          <a:prstGeom prst="rect">
            <a:avLst/>
          </a:prstGeom>
          <a:solidFill>
            <a:srgbClr val="1A104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65176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261872"/>
            <a:ext cx="731520" cy="731520"/>
          </a:xfrm>
          <a:prstGeom prst="ellipse">
            <a:avLst/>
          </a:prstGeom>
          <a:solidFill>
            <a:srgbClr val="F5C842">
              <a:alpha val="20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2618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842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20299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🌾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Proverbio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9077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avatar porta un proverbio autentico della sua cultura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(es. Sankofa Ghanese, Bushido Giapponese, Gandhi)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2377440"/>
            <a:ext cx="274320" cy="0"/>
          </a:xfrm>
          <a:prstGeom prst="line">
            <a:avLst/>
          </a:prstGeom>
          <a:noFill/>
          <a:ln w="25400">
            <a:solidFill>
              <a:srgbClr val="4A2F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188720"/>
            <a:ext cx="2651760" cy="2377440"/>
          </a:xfrm>
          <a:prstGeom prst="rect">
            <a:avLst/>
          </a:prstGeom>
          <a:solidFill>
            <a:srgbClr val="1A1040"/>
          </a:solidFill>
          <a:ln w="12700">
            <a:solidFill>
              <a:srgbClr val="5DAD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188720"/>
            <a:ext cx="2651760" cy="54864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1261872"/>
            <a:ext cx="731520" cy="731520"/>
          </a:xfrm>
          <a:prstGeom prst="ellipse">
            <a:avLst/>
          </a:prstGeom>
          <a:solidFill>
            <a:srgbClr val="5DADE2">
              <a:alpha val="20000"/>
            </a:srgbClr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2618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ADE2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00400" y="20299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🤔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0040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Bambino Risponde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29077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di testo libero — nessuna risposta sbagliata.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bambino riflette in modo aperto e creativo.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52160" y="2377440"/>
            <a:ext cx="274320" cy="0"/>
          </a:xfrm>
          <a:prstGeom prst="line">
            <a:avLst/>
          </a:prstGeom>
          <a:noFill/>
          <a:ln w="25400">
            <a:solidFill>
              <a:srgbClr val="4A2F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188720"/>
            <a:ext cx="2651760" cy="2377440"/>
          </a:xfrm>
          <a:prstGeom prst="rect">
            <a:avLst/>
          </a:prstGeom>
          <a:solidFill>
            <a:srgbClr val="1A1040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188720"/>
            <a:ext cx="265176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86600" y="1261872"/>
            <a:ext cx="731520" cy="731520"/>
          </a:xfrm>
          <a:prstGeom prst="ellipse">
            <a:avLst/>
          </a:prstGeom>
          <a:solidFill>
            <a:srgbClr val="9B59B6">
              <a:alpha val="2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12618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B59B6"/>
                </a:solidFill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126480" y="20299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🦉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2648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Civetta Risponde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29077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personalizza la risposta: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 · collega alla finanza · aggiunge curiosità culturale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657600"/>
            <a:ext cx="859536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4A2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Esempio — Kwame (Ghana):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«Sankofa: non è sbagliato tornare indietro a prendere ciò che hai dimenticato.»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Domanda: "C'è qualcosa che hai imparato dagli errori tuoi o della tua famiglia che ti ha aiutato?"  →  🦉 Civetta risponde e premia +30 Semi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60AA"/>
                </a:solidFill>
              </a:rPr>
              <a:t>16 proverbi unici · Risposta libera · AI personalizza · Fallback offline se API non disponibile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Impatto su Engagement &amp; Retention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avatar+cultura trasforma FinanzaLand da app educativa a esperienza identitaria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20240" cy="1645920"/>
          </a:xfrm>
          <a:prstGeom prst="rect">
            <a:avLst/>
          </a:prstGeom>
          <a:solidFill>
            <a:srgbClr val="1A104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6187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743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Avatar unici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32257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continenti · 8 paesi · diversity-first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1188720"/>
            <a:ext cx="1920240" cy="1645920"/>
          </a:xfrm>
          <a:prstGeom prst="rect">
            <a:avLst/>
          </a:prstGeom>
          <a:solidFill>
            <a:srgbClr val="1A104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26187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80+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450592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Contenuti/avatar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50592" y="232257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Storia · Lingua · Quiz · Missioni · Saggezza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6864" y="1188720"/>
            <a:ext cx="1920240" cy="1645920"/>
          </a:xfrm>
          <a:prstGeom prst="rect">
            <a:avLst/>
          </a:prstGeom>
          <a:solidFill>
            <a:srgbClr val="1A1040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26187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B59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626864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Livelli infiniti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26864" y="232257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tetto · Drago Mitico sbloccabile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03136" y="1188720"/>
            <a:ext cx="1920240" cy="1645920"/>
          </a:xfrm>
          <a:prstGeom prst="rect">
            <a:avLst/>
          </a:prstGeom>
          <a:solidFill>
            <a:srgbClr val="1A1040"/>
          </a:solidFill>
          <a:ln w="12700">
            <a:solidFill>
              <a:srgbClr val="5DAD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126187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DA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803136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Retention stimata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03136" y="232257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app fintech senza avatar (benchmark mercato)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8595360" cy="1600200"/>
          </a:xfrm>
          <a:prstGeom prst="rect">
            <a:avLst/>
          </a:prstGeom>
          <a:solidFill>
            <a:srgbClr val="1A1040"/>
          </a:solidFill>
          <a:ln w="12700">
            <a:solidFill>
              <a:srgbClr val="2D1B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17520"/>
            <a:ext cx="64008" cy="16002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0906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Perché questo differenzia FinanzaLand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3493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05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 nel mercato: educazione finanziaria + educazione culturale + AI in una sola app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3749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05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diversità dei personaggi attrae mercati UEMOA (Africa), Europa e diaspora africana globale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4005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05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Civetta AI crea un'esperienza personalizzata irripetibile — non replicabile senza Claude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4261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05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infinito: il bambino non "finisce" il gioco — cresce con lui per anni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60AA"/>
                </a:solidFill>
              </a:rPr>
              <a:t>FinanzaLand · Funding Ask: €3.000.000 · EIC Accelerator €2.5M + Seed €500K · Pre-money: €5.000.000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Integrazione Tecnica — GitHub + Vercel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immediato · zero configurazione aggiuntiva · usa l'API key già configurata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1005840"/>
          </a:xfrm>
          <a:prstGeom prst="rect">
            <a:avLst/>
          </a:prstGeom>
          <a:solidFill>
            <a:srgbClr val="1A104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64008" cy="100584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640080" cy="640080"/>
          </a:xfrm>
          <a:prstGeom prst="ellipse">
            <a:avLst/>
          </a:prstGeom>
          <a:solidFill>
            <a:srgbClr val="F5C842">
              <a:alpha val="25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Carica su GitHub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62763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su github.com/ilboudobr96-png/Finanzaland-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Clicca "Add file" → "Upload files"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 finanzaland_cultura_FINAL.html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423160"/>
            <a:ext cx="8595360" cy="1005840"/>
          </a:xfrm>
          <a:prstGeom prst="rect">
            <a:avLst/>
          </a:prstGeom>
          <a:solidFill>
            <a:srgbClr val="1A104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23160"/>
            <a:ext cx="64008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60320"/>
            <a:ext cx="640080" cy="640080"/>
          </a:xfrm>
          <a:prstGeom prst="ellipse">
            <a:avLst/>
          </a:prstGeom>
          <a:solidFill>
            <a:srgbClr val="27AE60">
              <a:alpha val="25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 redeploya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8620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detecta il nuovo file automaticamente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~4 secondi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configurazione extra necessaria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657600"/>
            <a:ext cx="8595360" cy="1005840"/>
          </a:xfrm>
          <a:prstGeom prst="rect">
            <a:avLst/>
          </a:prstGeom>
          <a:solidFill>
            <a:srgbClr val="1A1040"/>
          </a:solidFill>
          <a:ln w="12700">
            <a:solidFill>
              <a:srgbClr val="5DAD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657600"/>
            <a:ext cx="64008" cy="100584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94760"/>
            <a:ext cx="640080" cy="640080"/>
          </a:xfrm>
          <a:prstGeom prst="ellipse">
            <a:avLst/>
          </a:prstGeom>
          <a:solidFill>
            <a:srgbClr val="5DADE2">
              <a:alpha val="25000"/>
            </a:srgbClr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ADE2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 in index.html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09651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il blocco Avatar+Cultura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la sezione gioco dell'index.html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0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api/chat.js già presente e funzionante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617720"/>
            <a:ext cx="8595360" cy="201168"/>
          </a:xfrm>
          <a:prstGeom prst="rect">
            <a:avLst/>
          </a:prstGeom>
          <a:solidFill>
            <a:srgbClr val="27AE60">
              <a:alpha val="2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6177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✅ ANTHROPIC_API_KEY già configurata su Vercel · ✅ api/chat.js già presente · ✅ Deployment: Ready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60AA"/>
                </a:solidFill>
              </a:rPr>
              <a:t>finanzaland.vercel.app · Demo: INVEST25 · Repository: github.com/ilboudobr96-png/Finanzaland-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FinanzaLand — Feature Update: Mondo degli Allevatori</dc:title>
  <dc:subject>PptxGenJS Presentation</dc:subject>
  <dc:creator>Bernard Ilboudo</dc:creator>
  <cp:lastModifiedBy>Bernard Ilboudo</cp:lastModifiedBy>
  <cp:revision>1</cp:revision>
  <dcterms:created xsi:type="dcterms:W3CDTF">2026-04-01T06:07:36Z</dcterms:created>
  <dcterms:modified xsi:type="dcterms:W3CDTF">2026-04-01T06:07:36Z</dcterms:modified>
</cp:coreProperties>
</file>